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6" r:id="rId1"/>
  </p:sldMasterIdLst>
  <p:sldIdLst>
    <p:sldId id="256" r:id="rId2"/>
    <p:sldId id="257" r:id="rId3"/>
    <p:sldId id="260" r:id="rId4"/>
    <p:sldId id="258" r:id="rId5"/>
    <p:sldId id="261" r:id="rId6"/>
    <p:sldId id="271" r:id="rId7"/>
    <p:sldId id="272" r:id="rId8"/>
    <p:sldId id="259" r:id="rId9"/>
    <p:sldId id="262" r:id="rId10"/>
    <p:sldId id="263" r:id="rId11"/>
    <p:sldId id="264" r:id="rId12"/>
    <p:sldId id="266" r:id="rId13"/>
    <p:sldId id="273" r:id="rId14"/>
    <p:sldId id="274" r:id="rId15"/>
    <p:sldId id="275" r:id="rId16"/>
    <p:sldId id="276" r:id="rId17"/>
    <p:sldId id="277" r:id="rId18"/>
    <p:sldId id="267" r:id="rId19"/>
    <p:sldId id="268" r:id="rId20"/>
    <p:sldId id="269" r:id="rId21"/>
    <p:sldId id="270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59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11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55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27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80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86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19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21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87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06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198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2042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79542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8068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15959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982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687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39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904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8A2C-E601-EB03-0C06-42C6EDFA2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6811" y="2730137"/>
            <a:ext cx="8421188" cy="1528354"/>
          </a:xfrm>
        </p:spPr>
        <p:txBody>
          <a:bodyPr>
            <a:normAutofit fontScale="90000"/>
          </a:bodyPr>
          <a:lstStyle/>
          <a:p>
            <a:pPr algn="ctr"/>
            <a:b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of Low Power TPG Using LP-LFSR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3298540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D4FD-7DD6-185E-960F-A09CA42AC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71" y="1"/>
            <a:ext cx="4286863" cy="698090"/>
          </a:xfrm>
        </p:spPr>
        <p:txBody>
          <a:bodyPr/>
          <a:lstStyle/>
          <a:p>
            <a:pPr algn="ctr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01A9574-1658-593C-4449-89F5A9FADE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66451" y="599768"/>
            <a:ext cx="8662219" cy="61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2" anchor="ctr" anchorCtr="0" compatLnSpc="1">
            <a:prstTxWarp prst="textNoShape">
              <a:avLst/>
            </a:prstTxWarp>
            <a:no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Introduction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 Statement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Objectives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Literature Review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Test Pattern Generator (TPG)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</a:rPr>
              <a:t> LFSR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Arial" panose="020B0604020202020204" pitchFamily="34" charset="0"/>
              </a:rPr>
              <a:t> Proposed Low Power TPG Architecture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Flow chart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Tools and Technologies Used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RTL Design and Implementation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Results</a:t>
            </a:r>
            <a:r>
              <a:rPr lang="en-US" altLang="en-US" sz="1600" dirty="0">
                <a:latin typeface="Arial" panose="020B0604020202020204" pitchFamily="34" charset="0"/>
              </a:rPr>
              <a:t> 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 &amp;disadvantages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Future Scope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309835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500B-26F1-634C-9B38-C8715F710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510" y="157316"/>
            <a:ext cx="3549445" cy="909483"/>
          </a:xfrm>
        </p:spPr>
        <p:txBody>
          <a:bodyPr/>
          <a:lstStyle/>
          <a:p>
            <a:pPr algn="ctr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9BAD78-4499-50DA-2D70-E3DB7B45B9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4" y="1522755"/>
            <a:ext cx="5996805" cy="4190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VLSI circuits require efficient testing methods.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Built-In Self Test (BIST) is widely used for testing digital circuits.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Feedback Shift Registers (LFSR) are commonly used for Test Pattern Generation.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conventional LFSR produces high switching activity.</a:t>
            </a:r>
          </a:p>
          <a:p>
            <a:pPr marR="0" lvl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switching activity increases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power consumption during testing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EB8778-1579-8219-0411-4BC033C98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218" y="1715679"/>
            <a:ext cx="4306529" cy="380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9122F-9B24-D5F5-2FA6-B6D69C3CB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2723"/>
          </a:xfrm>
        </p:spPr>
        <p:txBody>
          <a:bodyPr/>
          <a:lstStyle/>
          <a:p>
            <a:pPr algn="ctr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E9CFDD-E053-1FE6-BB5B-E700326ED5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66684" y="1120877"/>
                <a:ext cx="9680727" cy="547656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During test mode, VLSI circuits consume more power than in normal operation.</a:t>
                </a:r>
              </a:p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Conventional LFSR-based TPG generates pseudo-random patterns with multiple bit transitions.</a:t>
                </a:r>
              </a:p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Multiple input transitions increase switching activity at the Circuit Under Test (CUT).</a:t>
                </a:r>
              </a:p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 switching activity leads to increased dynamic power consumption.</a:t>
                </a:r>
              </a:p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There is a need to reduce switching activity without affecting randomness and fault coverage.</a:t>
                </a:r>
              </a:p>
              <a:p>
                <a:pPr marL="0" indent="0">
                  <a:buNone/>
                </a:pPr>
                <a:b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200400" lvl="7" indent="0">
                  <a:buNone/>
                </a:pPr>
                <a:r>
                  <a:rPr lang="en-US" sz="19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Where:</a:t>
                </a:r>
              </a:p>
              <a:p>
                <a:pPr marL="3657600" lvl="8" indent="0">
                  <a:buNone/>
                </a:pP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9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Load Capacitance</a:t>
                </a:r>
              </a:p>
              <a:p>
                <a:pPr marL="3657600" lvl="8" indent="0">
                  <a:buNone/>
                </a:pP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9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Supply Voltage</a:t>
                </a:r>
              </a:p>
              <a:p>
                <a:pPr marL="3657600" lvl="8" indent="0">
                  <a:buNone/>
                </a:pP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9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Frequency</a:t>
                </a:r>
              </a:p>
              <a:p>
                <a:pPr marL="3657600" lvl="8" indent="0">
                  <a:buNone/>
                </a:pP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Switching Activity</a:t>
                </a:r>
              </a:p>
              <a:p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I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E9CFDD-E053-1FE6-BB5B-E700326ED5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6684" y="1120877"/>
                <a:ext cx="9680727" cy="5476568"/>
              </a:xfrm>
              <a:blipFill>
                <a:blip r:embed="rId2"/>
                <a:stretch>
                  <a:fillRect l="-882" t="-17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0240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9CF0-A131-CE7D-674C-F6022FED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257087"/>
          </a:xfrm>
        </p:spPr>
        <p:txBody>
          <a:bodyPr/>
          <a:lstStyle/>
          <a:p>
            <a:pPr algn="ctr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597831-C6E7-BE49-8CC3-4FEF248BB9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4625" y="2205385"/>
            <a:ext cx="9431922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Power Test Pattern Generator (TPG)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switching activity between test vectors.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LP-LFSR architecture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test patterns to </a:t>
            </a: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Braun Array Multiplier (CUT)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power consumption with conventional LFSR.</a:t>
            </a:r>
          </a:p>
        </p:txBody>
      </p:sp>
    </p:spTree>
    <p:extLst>
      <p:ext uri="{BB962C8B-B14F-4D97-AF65-F5344CB8AC3E}">
        <p14:creationId xmlns:p14="http://schemas.microsoft.com/office/powerpoint/2010/main" val="243914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3E82-32AB-EDCD-B425-8E53BBA6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122947"/>
          </a:xfrm>
        </p:spPr>
        <p:txBody>
          <a:bodyPr/>
          <a:lstStyle/>
          <a:p>
            <a:pPr algn="ctr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C57E38-36E7-0FD3-A0DE-C9A6968A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063367"/>
              </p:ext>
            </p:extLst>
          </p:nvPr>
        </p:nvGraphicFramePr>
        <p:xfrm>
          <a:off x="1252062" y="998235"/>
          <a:ext cx="10094363" cy="574305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73425">
                  <a:extLst>
                    <a:ext uri="{9D8B030D-6E8A-4147-A177-3AD203B41FA5}">
                      <a16:colId xmlns:a16="http://schemas.microsoft.com/office/drawing/2014/main" val="12976682"/>
                    </a:ext>
                  </a:extLst>
                </a:gridCol>
                <a:gridCol w="2473646">
                  <a:extLst>
                    <a:ext uri="{9D8B030D-6E8A-4147-A177-3AD203B41FA5}">
                      <a16:colId xmlns:a16="http://schemas.microsoft.com/office/drawing/2014/main" val="4186968582"/>
                    </a:ext>
                  </a:extLst>
                </a:gridCol>
                <a:gridCol w="2473646">
                  <a:extLst>
                    <a:ext uri="{9D8B030D-6E8A-4147-A177-3AD203B41FA5}">
                      <a16:colId xmlns:a16="http://schemas.microsoft.com/office/drawing/2014/main" val="3849400102"/>
                    </a:ext>
                  </a:extLst>
                </a:gridCol>
                <a:gridCol w="2473646">
                  <a:extLst>
                    <a:ext uri="{9D8B030D-6E8A-4147-A177-3AD203B41FA5}">
                      <a16:colId xmlns:a16="http://schemas.microsoft.com/office/drawing/2014/main" val="3997205614"/>
                    </a:ext>
                  </a:extLst>
                </a:gridCol>
              </a:tblGrid>
              <a:tr h="3355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n>
                            <a:solidFill>
                              <a:schemeClr val="tx1"/>
                            </a:solidFill>
                          </a:ln>
                        </a:rPr>
                        <a:t>Author / Year</a:t>
                      </a:r>
                      <a:endParaRPr lang="en-IN" sz="2000" dirty="0">
                        <a:ln>
                          <a:solidFill>
                            <a:schemeClr val="tx1"/>
                          </a:solidFill>
                        </a:ln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n>
                            <a:solidFill>
                              <a:schemeClr val="tx1"/>
                            </a:solidFill>
                          </a:ln>
                        </a:rPr>
                        <a:t>Method / Technique</a:t>
                      </a:r>
                      <a:endParaRPr lang="en-IN" sz="2000" dirty="0">
                        <a:ln>
                          <a:solidFill>
                            <a:schemeClr val="tx1"/>
                          </a:solidFill>
                        </a:ln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n>
                            <a:solidFill>
                              <a:schemeClr val="tx1"/>
                            </a:solidFill>
                          </a:ln>
                        </a:rPr>
                        <a:t>Key Idea</a:t>
                      </a:r>
                      <a:endParaRPr lang="en-IN" sz="2000" dirty="0">
                        <a:ln>
                          <a:solidFill>
                            <a:schemeClr val="tx1"/>
                          </a:solidFill>
                        </a:ln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n>
                            <a:solidFill>
                              <a:schemeClr val="tx1"/>
                            </a:solidFill>
                          </a:ln>
                        </a:rPr>
                        <a:t>Limitation</a:t>
                      </a:r>
                      <a:endParaRPr lang="en-IN" sz="2000" dirty="0">
                        <a:ln>
                          <a:solidFill>
                            <a:schemeClr val="tx1"/>
                          </a:solidFill>
                        </a:ln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788170"/>
                  </a:ext>
                </a:extLst>
              </a:tr>
              <a:tr h="1388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P. Girard (2002)</a:t>
                      </a:r>
                      <a:endParaRPr lang="en-IN" sz="20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Low Power Testing of VLSI Circuits</a:t>
                      </a:r>
                      <a:endParaRPr lang="en-US" sz="20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Identified switching activity as the major factor affecting dynamic power during testing</a:t>
                      </a:r>
                      <a:endParaRPr lang="en-US" sz="20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Does not provide a specific low power test pattern generator</a:t>
                      </a:r>
                      <a:endParaRPr lang="en-US" sz="20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933435"/>
                  </a:ext>
                </a:extLst>
              </a:tr>
              <a:tr h="1119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Wang &amp; Gupta (2002)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DS-LFSR (Dual Speed LFSR)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Proposed LFSR structure with reduced switching activity in test patterns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Power reduction limited for large circuits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278998"/>
                  </a:ext>
                </a:extLst>
              </a:tr>
              <a:tr h="855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Girard et al. (2001)</a:t>
                      </a:r>
                      <a:endParaRPr lang="en-IN" sz="20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Modified Clock Scheme for BIST</a:t>
                      </a:r>
                      <a:endParaRPr lang="en-US" sz="20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Reduced power by controlling clock activity in flip-flops</a:t>
                      </a:r>
                      <a:endParaRPr lang="en-US" sz="20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Increases hardware complexity</a:t>
                      </a:r>
                      <a:endParaRPr lang="en-IN" sz="20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42681"/>
                  </a:ext>
                </a:extLst>
              </a:tr>
              <a:tr h="1388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Kavitha et al. (2021)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Low Power TPG using LP-LFSR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Combines LP-LFSR, Gray code generator and counter to generate single-input change patterns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Requires additional hardware blocks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1329" marR="51329" marT="25665" marB="256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585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46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D364-0D5F-5AC0-03B5-A4670F459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37652"/>
            <a:ext cx="9905998" cy="1209367"/>
          </a:xfrm>
        </p:spPr>
        <p:txBody>
          <a:bodyPr/>
          <a:lstStyle/>
          <a:p>
            <a:pPr algn="ctr"/>
            <a:r>
              <a:rPr lang="en-IN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tpg</a:t>
            </a:r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–test pattern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88A13-50AB-4B8C-5744-22ACC8DA2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8361" y="1504335"/>
            <a:ext cx="6390968" cy="4267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Test Pattern Generator (TPG) is a circuit used to generate test vectors that are applied to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Under Test (CUT)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detecting faults during testing.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input test patterns for digital circuits.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detect faults during testing.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automatic testing in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Built-In Self-Test (BIST)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E3D58-DCC1-3B58-907E-B561C2D22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15" y="2148355"/>
            <a:ext cx="4601497" cy="256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6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4296-1EA5-7420-44E6-5F87C240D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509" y="206478"/>
            <a:ext cx="9611901" cy="860322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/>
              <a:t>LFSR – linear feedback shift register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08828-53A4-046C-5A8E-A5F5DF823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66800"/>
            <a:ext cx="5298717" cy="5304503"/>
          </a:xfrm>
        </p:spPr>
        <p:txBody>
          <a:bodyPr>
            <a:normAutofit/>
          </a:bodyPr>
          <a:lstStyle/>
          <a:p>
            <a:r>
              <a:rPr lang="en-IN" dirty="0"/>
              <a:t>Conventional Test Pattern Generator uses Linear Feedback Shift Register (LFSR).</a:t>
            </a:r>
          </a:p>
          <a:p>
            <a:r>
              <a:rPr lang="en-IN" dirty="0"/>
              <a:t>LFSR generates pseudo-random test patterns.</a:t>
            </a:r>
          </a:p>
          <a:p>
            <a:r>
              <a:rPr lang="en-IN" dirty="0"/>
              <a:t>Multiple bits change between consecutive patterns.</a:t>
            </a:r>
          </a:p>
          <a:p>
            <a:r>
              <a:rPr lang="en-IN" dirty="0"/>
              <a:t>High switching activity at CUT inputs.</a:t>
            </a:r>
          </a:p>
          <a:p>
            <a:r>
              <a:rPr lang="en-IN" dirty="0"/>
              <a:t>Leads to increased dynamic power during test mode.</a:t>
            </a:r>
          </a:p>
          <a:p>
            <a:pPr marL="0" indent="0">
              <a:buNone/>
            </a:pPr>
            <a:endParaRPr lang="en-IN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E4057-9F0B-F785-0489-664447B12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284" y="1595437"/>
            <a:ext cx="5298717" cy="366712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B0C706-C068-2F10-FE15-337FAE727CFC}"/>
              </a:ext>
            </a:extLst>
          </p:cNvPr>
          <p:cNvCxnSpPr/>
          <p:nvPr/>
        </p:nvCxnSpPr>
        <p:spPr>
          <a:xfrm>
            <a:off x="6548284" y="1789471"/>
            <a:ext cx="0" cy="12585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25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BF8A-1044-BD7E-0D71-CB2A12CE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215396"/>
            <a:ext cx="9828211" cy="1328269"/>
          </a:xfrm>
        </p:spPr>
        <p:txBody>
          <a:bodyPr/>
          <a:lstStyle/>
          <a:p>
            <a:pPr algn="ctr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</a:t>
            </a:r>
            <a:r>
              <a:rPr lang="en-US" alt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Power TPG Architecture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BA704-AB20-5511-FF9C-AAB416EE7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1253" y="1543665"/>
            <a:ext cx="6872747" cy="4906296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Low Power Test Pattern Generator is proposed.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reduces switching activity during test mode.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 consists of: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LP-LFSR </a:t>
            </a:r>
            <a:r>
              <a:rPr lang="en-IN" dirty="0"/>
              <a:t>with Synchronous Clock Enable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m-bit Counter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 Code Generator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XOR Array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 code ensures single input change.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LP-LFSR provides pseudo-random seed.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output is low-transition test pattern.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774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D82FB-076C-58FE-AED9-1B829FCF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167" y="68826"/>
            <a:ext cx="9379975" cy="816077"/>
          </a:xfrm>
        </p:spPr>
        <p:txBody>
          <a:bodyPr/>
          <a:lstStyle/>
          <a:p>
            <a:pPr algn="ctr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diagram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DDD23-4B21-06AA-DE72-D5EDF2091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7" y="796413"/>
            <a:ext cx="10245213" cy="526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17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A272-996D-84DE-C772-B08F1FFE0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"/>
            <a:ext cx="9905998" cy="619432"/>
          </a:xfrm>
        </p:spPr>
        <p:txBody>
          <a:bodyPr/>
          <a:lstStyle/>
          <a:p>
            <a:pPr algn="ctr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chart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" name="Flowchart: Terminator 142">
            <a:extLst>
              <a:ext uri="{FF2B5EF4-FFF2-40B4-BE49-F238E27FC236}">
                <a16:creationId xmlns:a16="http://schemas.microsoft.com/office/drawing/2014/main" id="{CB73C315-4698-98F3-ABC8-8D49505D775B}"/>
              </a:ext>
            </a:extLst>
          </p:cNvPr>
          <p:cNvSpPr/>
          <p:nvPr/>
        </p:nvSpPr>
        <p:spPr>
          <a:xfrm>
            <a:off x="5299587" y="630949"/>
            <a:ext cx="1592825" cy="383457"/>
          </a:xfrm>
          <a:prstGeom prst="flowChartTerminator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Start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47C5945-B8BE-559A-45F7-6049DD08C43D}"/>
              </a:ext>
            </a:extLst>
          </p:cNvPr>
          <p:cNvSpPr/>
          <p:nvPr/>
        </p:nvSpPr>
        <p:spPr>
          <a:xfrm>
            <a:off x="4610100" y="1254387"/>
            <a:ext cx="2971798" cy="4075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Initialize</a:t>
            </a:r>
            <a:endParaRPr lang="en-IN" sz="1200" dirty="0">
              <a:solidFill>
                <a:schemeClr val="bg1"/>
              </a:solidFill>
            </a:endParaRPr>
          </a:p>
          <a:p>
            <a:pPr algn="ctr"/>
            <a:r>
              <a:rPr lang="en-IN" sz="1200" dirty="0">
                <a:solidFill>
                  <a:schemeClr val="bg1"/>
                </a:solidFill>
              </a:rPr>
              <a:t>RST=1,counter=0,LFSR=SEED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F546EFE-1080-8CE0-C6B1-3704FAE75875}"/>
              </a:ext>
            </a:extLst>
          </p:cNvPr>
          <p:cNvSpPr/>
          <p:nvPr/>
        </p:nvSpPr>
        <p:spPr>
          <a:xfrm>
            <a:off x="4610101" y="1954154"/>
            <a:ext cx="2971798" cy="37284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Release reset (RST=0)Counter starts on CLK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F2464D8-6E39-C670-028E-A70E15C8AC92}"/>
              </a:ext>
            </a:extLst>
          </p:cNvPr>
          <p:cNvSpPr/>
          <p:nvPr/>
        </p:nvSpPr>
        <p:spPr>
          <a:xfrm>
            <a:off x="4363451" y="2539438"/>
            <a:ext cx="3465095" cy="43895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Counter increments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count[7:0] = count + 1 per CLK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6FFDB4F5-0356-1599-D0CC-AA114FD79744}"/>
              </a:ext>
            </a:extLst>
          </p:cNvPr>
          <p:cNvSpPr/>
          <p:nvPr/>
        </p:nvSpPr>
        <p:spPr>
          <a:xfrm>
            <a:off x="2932913" y="3576620"/>
            <a:ext cx="2188466" cy="279293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Gray code g[7:0] from k[7:0]</a:t>
            </a:r>
            <a:r>
              <a:rPr lang="en-US" sz="1200" dirty="0"/>
              <a:t>]</a:t>
            </a:r>
            <a:endParaRPr lang="en-IN" sz="120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FAD0563-FE9C-205B-EA7C-98A0F10ED1B4}"/>
              </a:ext>
            </a:extLst>
          </p:cNvPr>
          <p:cNvSpPr/>
          <p:nvPr/>
        </p:nvSpPr>
        <p:spPr>
          <a:xfrm>
            <a:off x="4610100" y="4399627"/>
            <a:ext cx="3263273" cy="27399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XOR array y[7:0] = f XOR g</a:t>
            </a:r>
          </a:p>
        </p:txBody>
      </p:sp>
      <p:sp>
        <p:nvSpPr>
          <p:cNvPr id="150" name="Flowchart: Decision 149">
            <a:extLst>
              <a:ext uri="{FF2B5EF4-FFF2-40B4-BE49-F238E27FC236}">
                <a16:creationId xmlns:a16="http://schemas.microsoft.com/office/drawing/2014/main" id="{DF9BC176-4E7C-2D02-5177-0C4BC1DD9CC6}"/>
              </a:ext>
            </a:extLst>
          </p:cNvPr>
          <p:cNvSpPr/>
          <p:nvPr/>
        </p:nvSpPr>
        <p:spPr>
          <a:xfrm>
            <a:off x="8145377" y="2978393"/>
            <a:ext cx="1844197" cy="450608"/>
          </a:xfrm>
          <a:prstGeom prst="flowChartDecision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~c1[3]=1?</a:t>
            </a:r>
            <a:endParaRPr lang="en-IN" sz="120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A6A95A7-A432-8323-D46F-4ACBCC6F1DCE}"/>
              </a:ext>
            </a:extLst>
          </p:cNvPr>
          <p:cNvSpPr/>
          <p:nvPr/>
        </p:nvSpPr>
        <p:spPr>
          <a:xfrm>
            <a:off x="7828546" y="3648479"/>
            <a:ext cx="2461348" cy="45060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Advance LP-LFSR f[7]=f[1] XOR f[0]</a:t>
            </a:r>
            <a:endParaRPr lang="en-IN" sz="1200" dirty="0">
              <a:solidFill>
                <a:schemeClr val="bg1"/>
              </a:solidFill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B6996513-B309-9788-E4DD-98E59B637F4D}"/>
              </a:ext>
            </a:extLst>
          </p:cNvPr>
          <p:cNvCxnSpPr>
            <a:stCxn id="143" idx="2"/>
            <a:endCxn id="144" idx="0"/>
          </p:cNvCxnSpPr>
          <p:nvPr/>
        </p:nvCxnSpPr>
        <p:spPr>
          <a:xfrm flipH="1">
            <a:off x="6095999" y="1014406"/>
            <a:ext cx="1" cy="239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8F339D5D-D439-73D0-05F0-8DCC0F8950AE}"/>
              </a:ext>
            </a:extLst>
          </p:cNvPr>
          <p:cNvCxnSpPr>
            <a:stCxn id="144" idx="2"/>
            <a:endCxn id="145" idx="0"/>
          </p:cNvCxnSpPr>
          <p:nvPr/>
        </p:nvCxnSpPr>
        <p:spPr>
          <a:xfrm>
            <a:off x="6095999" y="1661917"/>
            <a:ext cx="1" cy="292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29B13A43-303C-A4DB-6187-736D7B9A15A9}"/>
              </a:ext>
            </a:extLst>
          </p:cNvPr>
          <p:cNvCxnSpPr>
            <a:stCxn id="145" idx="2"/>
            <a:endCxn id="146" idx="0"/>
          </p:cNvCxnSpPr>
          <p:nvPr/>
        </p:nvCxnSpPr>
        <p:spPr>
          <a:xfrm flipH="1">
            <a:off x="6095999" y="2326994"/>
            <a:ext cx="1" cy="2124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66EE48A3-C393-2FC9-1635-24442EB27FED}"/>
              </a:ext>
            </a:extLst>
          </p:cNvPr>
          <p:cNvCxnSpPr>
            <a:cxnSpLocks/>
            <a:stCxn id="146" idx="3"/>
            <a:endCxn id="150" idx="0"/>
          </p:cNvCxnSpPr>
          <p:nvPr/>
        </p:nvCxnSpPr>
        <p:spPr>
          <a:xfrm>
            <a:off x="7828546" y="2758915"/>
            <a:ext cx="1238930" cy="21947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1008F3C9-3EA6-219A-907E-F384DBD916B0}"/>
              </a:ext>
            </a:extLst>
          </p:cNvPr>
          <p:cNvCxnSpPr>
            <a:cxnSpLocks/>
            <a:stCxn id="150" idx="2"/>
            <a:endCxn id="151" idx="0"/>
          </p:cNvCxnSpPr>
          <p:nvPr/>
        </p:nvCxnSpPr>
        <p:spPr>
          <a:xfrm flipH="1">
            <a:off x="9059220" y="3429001"/>
            <a:ext cx="8256" cy="2194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8FA378C6-9143-7DB6-42A0-FB48256C7010}"/>
              </a:ext>
            </a:extLst>
          </p:cNvPr>
          <p:cNvCxnSpPr>
            <a:cxnSpLocks/>
            <a:stCxn id="151" idx="2"/>
            <a:endCxn id="149" idx="3"/>
          </p:cNvCxnSpPr>
          <p:nvPr/>
        </p:nvCxnSpPr>
        <p:spPr>
          <a:xfrm rot="5400000">
            <a:off x="8247529" y="3724932"/>
            <a:ext cx="437536" cy="11858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567212B0-52E0-0ADE-E9B4-B502CE585043}"/>
              </a:ext>
            </a:extLst>
          </p:cNvPr>
          <p:cNvCxnSpPr>
            <a:cxnSpLocks/>
            <a:stCxn id="146" idx="1"/>
            <a:endCxn id="147" idx="0"/>
          </p:cNvCxnSpPr>
          <p:nvPr/>
        </p:nvCxnSpPr>
        <p:spPr>
          <a:xfrm rot="10800000" flipV="1">
            <a:off x="4027147" y="2758914"/>
            <a:ext cx="336305" cy="81770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A91969EE-AC65-35AE-AC8F-3E5BA3E3379B}"/>
              </a:ext>
            </a:extLst>
          </p:cNvPr>
          <p:cNvCxnSpPr>
            <a:cxnSpLocks/>
            <a:stCxn id="147" idx="2"/>
            <a:endCxn id="149" idx="1"/>
          </p:cNvCxnSpPr>
          <p:nvPr/>
        </p:nvCxnSpPr>
        <p:spPr>
          <a:xfrm rot="16200000" flipH="1">
            <a:off x="3978268" y="3904791"/>
            <a:ext cx="680710" cy="58295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C46DE536-C3C8-EB1E-9C0C-FF2C86D00DAF}"/>
              </a:ext>
            </a:extLst>
          </p:cNvPr>
          <p:cNvSpPr/>
          <p:nvPr/>
        </p:nvSpPr>
        <p:spPr>
          <a:xfrm>
            <a:off x="5199516" y="4963671"/>
            <a:ext cx="2084439" cy="53094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Apply to CUT y[7:0] → Braun array multiplier</a:t>
            </a:r>
            <a:endParaRPr lang="en-IN" dirty="0"/>
          </a:p>
        </p:txBody>
      </p:sp>
      <p:sp>
        <p:nvSpPr>
          <p:cNvPr id="202" name="Flowchart: Decision 201">
            <a:extLst>
              <a:ext uri="{FF2B5EF4-FFF2-40B4-BE49-F238E27FC236}">
                <a16:creationId xmlns:a16="http://schemas.microsoft.com/office/drawing/2014/main" id="{B030F95E-D042-E755-BE4A-52E896FF3202}"/>
              </a:ext>
            </a:extLst>
          </p:cNvPr>
          <p:cNvSpPr/>
          <p:nvPr/>
        </p:nvSpPr>
        <p:spPr>
          <a:xfrm>
            <a:off x="5447071" y="5733991"/>
            <a:ext cx="1612490" cy="493060"/>
          </a:xfrm>
          <a:prstGeom prst="flowChartDecision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Done?</a:t>
            </a:r>
          </a:p>
        </p:txBody>
      </p:sp>
      <p:sp>
        <p:nvSpPr>
          <p:cNvPr id="203" name="Flowchart: Terminator 202">
            <a:extLst>
              <a:ext uri="{FF2B5EF4-FFF2-40B4-BE49-F238E27FC236}">
                <a16:creationId xmlns:a16="http://schemas.microsoft.com/office/drawing/2014/main" id="{34935D6E-16CD-0B7F-9244-E04C4785AA8E}"/>
              </a:ext>
            </a:extLst>
          </p:cNvPr>
          <p:cNvSpPr/>
          <p:nvPr/>
        </p:nvSpPr>
        <p:spPr>
          <a:xfrm>
            <a:off x="5681296" y="6466430"/>
            <a:ext cx="1120878" cy="280218"/>
          </a:xfrm>
          <a:prstGeom prst="flowChartTerminator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742B3900-FDFE-5EDF-2C6F-1212009AF335}"/>
              </a:ext>
            </a:extLst>
          </p:cNvPr>
          <p:cNvCxnSpPr>
            <a:stCxn id="149" idx="2"/>
            <a:endCxn id="201" idx="0"/>
          </p:cNvCxnSpPr>
          <p:nvPr/>
        </p:nvCxnSpPr>
        <p:spPr>
          <a:xfrm flipH="1">
            <a:off x="6241736" y="4673619"/>
            <a:ext cx="1" cy="2900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795874CC-580D-9F7F-81C2-0869E800C126}"/>
              </a:ext>
            </a:extLst>
          </p:cNvPr>
          <p:cNvCxnSpPr>
            <a:cxnSpLocks/>
            <a:stCxn id="201" idx="2"/>
            <a:endCxn id="202" idx="0"/>
          </p:cNvCxnSpPr>
          <p:nvPr/>
        </p:nvCxnSpPr>
        <p:spPr>
          <a:xfrm>
            <a:off x="6241736" y="5494612"/>
            <a:ext cx="11580" cy="2393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76CC516B-5DCE-6EFA-4B91-F745EDAA70EA}"/>
              </a:ext>
            </a:extLst>
          </p:cNvPr>
          <p:cNvCxnSpPr>
            <a:stCxn id="202" idx="2"/>
            <a:endCxn id="203" idx="0"/>
          </p:cNvCxnSpPr>
          <p:nvPr/>
        </p:nvCxnSpPr>
        <p:spPr>
          <a:xfrm flipH="1">
            <a:off x="6241735" y="6227051"/>
            <a:ext cx="11581" cy="2393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C0A7B3CE-35A0-3D75-B4E8-59794DC03A7F}"/>
              </a:ext>
            </a:extLst>
          </p:cNvPr>
          <p:cNvCxnSpPr>
            <a:stCxn id="202" idx="1"/>
          </p:cNvCxnSpPr>
          <p:nvPr/>
        </p:nvCxnSpPr>
        <p:spPr>
          <a:xfrm flipH="1">
            <a:off x="1812758" y="5980521"/>
            <a:ext cx="36343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27E48E04-5957-63BC-8670-5B0FBB178907}"/>
              </a:ext>
            </a:extLst>
          </p:cNvPr>
          <p:cNvCxnSpPr/>
          <p:nvPr/>
        </p:nvCxnSpPr>
        <p:spPr>
          <a:xfrm flipV="1">
            <a:off x="1812758" y="2539438"/>
            <a:ext cx="0" cy="34410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5304D26D-3496-5289-25B0-B46DE1D930C4}"/>
              </a:ext>
            </a:extLst>
          </p:cNvPr>
          <p:cNvCxnSpPr>
            <a:cxnSpLocks/>
          </p:cNvCxnSpPr>
          <p:nvPr/>
        </p:nvCxnSpPr>
        <p:spPr>
          <a:xfrm>
            <a:off x="1812758" y="2539438"/>
            <a:ext cx="2550693" cy="47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293F1FB6-2DB4-4DEC-6EC6-7E6F67AFD1E4}"/>
              </a:ext>
            </a:extLst>
          </p:cNvPr>
          <p:cNvCxnSpPr>
            <a:cxnSpLocks/>
            <a:stCxn id="150" idx="3"/>
            <a:endCxn id="149" idx="3"/>
          </p:cNvCxnSpPr>
          <p:nvPr/>
        </p:nvCxnSpPr>
        <p:spPr>
          <a:xfrm flipH="1">
            <a:off x="7873373" y="3203697"/>
            <a:ext cx="2116201" cy="1332926"/>
          </a:xfrm>
          <a:prstGeom prst="bentConnector3">
            <a:avLst>
              <a:gd name="adj1" fmla="val -3581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5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A2C5-C63F-A6AE-86C6-4CA46C4A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48" y="88490"/>
            <a:ext cx="4218038" cy="894736"/>
          </a:xfrm>
        </p:spPr>
        <p:txBody>
          <a:bodyPr/>
          <a:lstStyle/>
          <a:p>
            <a:pPr algn="ctr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Modules details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B6B72-C95D-9E87-561F-5AFBAAB1B3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35511" y="1150374"/>
                <a:ext cx="4218038" cy="549623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Main Modules Implemented</a:t>
                </a:r>
              </a:p>
              <a:p>
                <a:pPr marL="0" indent="0">
                  <a:buNone/>
                </a:pPr>
                <a:r>
                  <a:rPr lang="en-IN" b="1" dirty="0"/>
                  <a:t>1️⃣ m-bit Counter</a:t>
                </a:r>
                <a:endParaRPr lang="en-IN" dirty="0"/>
              </a:p>
              <a:p>
                <a:r>
                  <a:rPr lang="en-IN" dirty="0"/>
                  <a:t>Generates binary sequence 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["/>
                        <m:endChr m:val="]"/>
                        <m:ctrlPr>
                          <a:rPr lang="en-IN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−1:0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dirty="0"/>
                  <a:t>Counts from 0 to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dirty="0"/>
              </a:p>
              <a:p>
                <a:r>
                  <a:rPr lang="en-IN" dirty="0"/>
                  <a:t>Controlled by clock signal</a:t>
                </a:r>
                <a:br>
                  <a:rPr lang="en-IN" dirty="0"/>
                </a:br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2️⃣ Gray Code Generator</a:t>
                </a:r>
                <a:endParaRPr lang="en-IN" dirty="0"/>
              </a:p>
              <a:p>
                <a:r>
                  <a:rPr lang="en-IN" dirty="0"/>
                  <a:t>Converts binary to Gray code</a:t>
                </a:r>
              </a:p>
              <a:p>
                <a:r>
                  <a:rPr lang="en-IN" dirty="0"/>
                  <a:t>Ensures single bit transition</a:t>
                </a:r>
              </a:p>
              <a:p>
                <a:r>
                  <a:rPr lang="en-IN" dirty="0"/>
                  <a:t>Implemented using: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⊕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ar-A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B6B72-C95D-9E87-561F-5AFBAAB1B3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5511" y="1150374"/>
                <a:ext cx="4218038" cy="5496232"/>
              </a:xfrm>
              <a:blipFill>
                <a:blip r:embed="rId2"/>
                <a:stretch>
                  <a:fillRect l="-1734" t="-666" b="-5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48228C-2CFE-1FBD-DBC9-E8A1046BB7D5}"/>
                  </a:ext>
                </a:extLst>
              </p:cNvPr>
              <p:cNvSpPr txBox="1"/>
              <p:nvPr/>
            </p:nvSpPr>
            <p:spPr>
              <a:xfrm>
                <a:off x="6174659" y="1150375"/>
                <a:ext cx="4218038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ar-AE" b="1" dirty="0"/>
                  <a:t>3️⃣ </a:t>
                </a:r>
                <a:r>
                  <a:rPr lang="en-IN" b="1" dirty="0"/>
                  <a:t>Modified LP-LFSR</a:t>
                </a:r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Generates pseudo-random seed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Contains feedback XOR logic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Includes swapping mechanism (low transition logic)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r>
                  <a:rPr lang="en-IN" b="1" dirty="0"/>
                  <a:t>4️⃣ XOR Array</a:t>
                </a:r>
                <a:endParaRPr lang="en-I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Performs bitwise XOR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Final output: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⊕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48228C-2CFE-1FBD-DBC9-E8A1046BB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659" y="1150375"/>
                <a:ext cx="4218038" cy="3139321"/>
              </a:xfrm>
              <a:prstGeom prst="rect">
                <a:avLst/>
              </a:prstGeom>
              <a:blipFill>
                <a:blip r:embed="rId3"/>
                <a:stretch>
                  <a:fillRect l="-1445" t="-1165" b="-15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6913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3EB5-2BDE-211E-BC53-1B8B0389D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8322"/>
            <a:ext cx="9905998" cy="747251"/>
          </a:xfrm>
        </p:spPr>
        <p:txBody>
          <a:bodyPr/>
          <a:lstStyle/>
          <a:p>
            <a:pPr algn="ctr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BDC43-EF80-2542-F345-47717FF9B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845573"/>
            <a:ext cx="6655568" cy="52012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Platform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Target FPGA Device: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Xilinx Artix-7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Device Model: xc7a35tcpg236-1</a:t>
            </a:r>
          </a:p>
          <a:p>
            <a:pPr marL="0" indent="0">
              <a:buNone/>
            </a:pPr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Language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Verilog HDL</a:t>
            </a:r>
          </a:p>
          <a:p>
            <a:pPr marL="0" indent="0">
              <a:buNone/>
            </a:pPr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Tool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Xilinx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Vivado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2025.1</a:t>
            </a:r>
          </a:p>
          <a:p>
            <a:pPr marL="0" indent="0">
              <a:buNone/>
            </a:pPr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Behavioural Simulation for functional verification</a:t>
            </a:r>
          </a:p>
          <a:p>
            <a:pPr marL="0" indent="0">
              <a:buNone/>
            </a:pPr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Flow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RTL Design → Simulation → Synthesis →     Implementation → Power Analysis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955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E9679-D370-73C7-189C-FEC1EBA1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7316"/>
            <a:ext cx="9905998" cy="1573161"/>
          </a:xfrm>
        </p:spPr>
        <p:txBody>
          <a:bodyPr/>
          <a:lstStyle/>
          <a:p>
            <a:pPr algn="ctr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RTL Design and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A27C8-FB3F-204A-582C-195D28DBB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88026"/>
            <a:ext cx="9084136" cy="2477729"/>
          </a:xfrm>
        </p:spPr>
        <p:txBody>
          <a:bodyPr>
            <a:normAutofit/>
          </a:bodyPr>
          <a:lstStyle/>
          <a:p>
            <a:r>
              <a:rPr lang="en-IN" sz="2000" dirty="0"/>
              <a:t>LP-TPG architecture designed using </a:t>
            </a:r>
            <a:r>
              <a:rPr lang="en-IN" sz="2000" b="1" dirty="0"/>
              <a:t>Verilog HDL</a:t>
            </a:r>
          </a:p>
          <a:p>
            <a:r>
              <a:rPr lang="en-IN" sz="2000" dirty="0"/>
              <a:t>Modules implemented: </a:t>
            </a:r>
            <a:r>
              <a:rPr lang="en-IN" sz="2000" b="1" dirty="0"/>
              <a:t>LP-LFSR, Counter, Gray   Code Generator, XOR</a:t>
            </a:r>
          </a:p>
          <a:p>
            <a:r>
              <a:rPr lang="en-IN" sz="2000" dirty="0"/>
              <a:t>Design synthesized using </a:t>
            </a:r>
            <a:r>
              <a:rPr lang="en-IN" sz="2000" b="1" dirty="0"/>
              <a:t>Xilinx </a:t>
            </a:r>
            <a:r>
              <a:rPr lang="en-IN" sz="2000" b="1" dirty="0" err="1"/>
              <a:t>Vivado</a:t>
            </a:r>
            <a:r>
              <a:rPr lang="en-IN" sz="2000" b="1" dirty="0"/>
              <a:t> 2025.1</a:t>
            </a:r>
          </a:p>
          <a:p>
            <a:r>
              <a:rPr lang="en-IN" sz="2000" dirty="0"/>
              <a:t>Target FPGA device: </a:t>
            </a:r>
            <a:r>
              <a:rPr lang="en-IN" sz="2000" b="1" dirty="0"/>
              <a:t>Artix-7 (xc7a35tcpg236-1)</a:t>
            </a:r>
          </a:p>
          <a:p>
            <a:r>
              <a:rPr lang="en-IN" sz="2000" dirty="0"/>
              <a:t>RTL schematic generated to verify module connectivity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AAD21-3686-0D05-337E-70E4FACA4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29" y="3765755"/>
            <a:ext cx="9788881" cy="300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43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838D-A14A-6A48-9BF1-5F6ABF2E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34065"/>
          </a:xfrm>
        </p:spPr>
        <p:txBody>
          <a:bodyPr/>
          <a:lstStyle/>
          <a:p>
            <a:pPr algn="ctr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A4997-00CF-3A93-CF17-6C19EB15A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28" y="1061884"/>
            <a:ext cx="10640447" cy="438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17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low power tpg power analysis">
            <a:extLst>
              <a:ext uri="{FF2B5EF4-FFF2-40B4-BE49-F238E27FC236}">
                <a16:creationId xmlns:a16="http://schemas.microsoft.com/office/drawing/2014/main" id="{056508BC-0517-472F-200E-3AF20912E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" y="108155"/>
            <a:ext cx="5987845" cy="47693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A282F1-4025-B159-89EC-D6A1F6DE5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156" y="108155"/>
            <a:ext cx="5878030" cy="47693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2914F8-B470-CBB7-E997-758E879745DC}"/>
              </a:ext>
            </a:extLst>
          </p:cNvPr>
          <p:cNvSpPr txBox="1"/>
          <p:nvPr/>
        </p:nvSpPr>
        <p:spPr>
          <a:xfrm>
            <a:off x="1032388" y="5043947"/>
            <a:ext cx="472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analysis report generated using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Vivado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Power Analyzer for LP-TPG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4485F6-A58D-F7CC-4FBA-78A3C8F4D2C4}"/>
              </a:ext>
            </a:extLst>
          </p:cNvPr>
          <p:cNvSpPr txBox="1"/>
          <p:nvPr/>
        </p:nvSpPr>
        <p:spPr>
          <a:xfrm>
            <a:off x="6715432" y="5043947"/>
            <a:ext cx="4444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analysis report generated using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Vivado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Power Analyzer for conventional TPG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757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C4A451-889B-D72A-030A-1354FCF1C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52"/>
          <a:stretch>
            <a:fillRect/>
          </a:stretch>
        </p:blipFill>
        <p:spPr>
          <a:xfrm>
            <a:off x="849582" y="1202047"/>
            <a:ext cx="10492836" cy="445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14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DE7D-A1FE-CF00-5F25-776114696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127820"/>
            <a:ext cx="9906000" cy="1012722"/>
          </a:xfrm>
        </p:spPr>
        <p:txBody>
          <a:bodyPr/>
          <a:lstStyle/>
          <a:p>
            <a:pPr algn="ctr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 &amp; disadvantages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C2C2E-CAAA-486B-85ED-A6DADE215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1140542"/>
            <a:ext cx="4878391" cy="658761"/>
          </a:xfrm>
        </p:spPr>
        <p:txBody>
          <a:bodyPr/>
          <a:lstStyle/>
          <a:p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  <a:endParaRPr lang="en-IN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AD874-7114-4C97-5780-376F7B4AA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1" y="1887795"/>
            <a:ext cx="4527870" cy="3903404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switching activity using Gray code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 reduction in test power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Maintains good fault coverage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and BIST compatible architecture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Suitable for FPGA and SoC designs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F194C5-4F06-42EC-662F-B054F2108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40542"/>
            <a:ext cx="4760905" cy="658761"/>
          </a:xfrm>
        </p:spPr>
        <p:txBody>
          <a:bodyPr/>
          <a:lstStyle/>
          <a:p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disadvantages</a:t>
            </a:r>
            <a:endParaRPr lang="en-IN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242E484-2AF5-2CDC-442D-B1D3782731F6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172200" y="1887796"/>
            <a:ext cx="4760905" cy="4107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Slight increase in hardware overhead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control logic than conventional LFSR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Slower seed update (once every 2ᵐ cycles)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dirty="0"/>
              <a:t>Clock enable condition fixed to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dirty="0"/>
              <a:t>counter bit c1[3] — not dynamically adjustable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Pseudo-random, not truly random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CUT must be much larger than TPG</a:t>
            </a:r>
          </a:p>
        </p:txBody>
      </p:sp>
    </p:spTree>
    <p:extLst>
      <p:ext uri="{BB962C8B-B14F-4D97-AF65-F5344CB8AC3E}">
        <p14:creationId xmlns:p14="http://schemas.microsoft.com/office/powerpoint/2010/main" val="176177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AD195-472D-0BA2-2B1B-4127F3C5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703" y="98322"/>
            <a:ext cx="6312310" cy="757083"/>
          </a:xfrm>
        </p:spPr>
        <p:txBody>
          <a:bodyPr/>
          <a:lstStyle/>
          <a:p>
            <a:pPr algn="ctr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8A8EC-1F57-798E-A7E0-A510BAF4E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942" y="1671484"/>
            <a:ext cx="8406581" cy="4680154"/>
          </a:xfrm>
        </p:spPr>
        <p:txBody>
          <a:bodyPr/>
          <a:lstStyle/>
          <a:p>
            <a:r>
              <a:rPr lang="en-US" dirty="0"/>
              <a:t>Built-In Self-Test (BIST) for VLSI circuits</a:t>
            </a:r>
          </a:p>
          <a:p>
            <a:r>
              <a:rPr lang="en-US" dirty="0"/>
              <a:t>Testing of System-on-Chip (SoC) designs</a:t>
            </a:r>
          </a:p>
          <a:p>
            <a:r>
              <a:rPr lang="en-US" dirty="0"/>
              <a:t>Low power testing of digital signal processing (DSP) blocks</a:t>
            </a:r>
          </a:p>
          <a:p>
            <a:r>
              <a:rPr lang="en-US" dirty="0"/>
              <a:t>FPGA-based embedded systems testing</a:t>
            </a:r>
          </a:p>
          <a:p>
            <a:r>
              <a:rPr lang="en-US" dirty="0"/>
              <a:t>Portable and battery-powered electronic devices</a:t>
            </a:r>
          </a:p>
          <a:p>
            <a:r>
              <a:rPr lang="en-US" dirty="0"/>
              <a:t>ASIC testing with reduced peak power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493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BA2A-0C8C-5EAB-7E8A-86ED02375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5E0A9-9D64-2DED-EB6F-DA148E5D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LP-TPG based on LP-LFSR architecture was studied and implemented.</a:t>
            </a:r>
          </a:p>
          <a:p>
            <a:r>
              <a:rPr lang="en-US" dirty="0"/>
              <a:t>Gray code technique reduces switching transitions between test patterns.</a:t>
            </a:r>
          </a:p>
          <a:p>
            <a:r>
              <a:rPr lang="en-US" dirty="0"/>
              <a:t>Reduced switching activity leads to lower dynamic power consumption.</a:t>
            </a:r>
          </a:p>
          <a:p>
            <a:r>
              <a:rPr lang="en-US" dirty="0"/>
              <a:t>Architecture is suitable for BIST applications in VLSI systems.</a:t>
            </a:r>
          </a:p>
          <a:p>
            <a:r>
              <a:rPr lang="en-US" dirty="0"/>
              <a:t>FPGA-based implementation validates feasibility of the design.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974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A084-AAB1-FDEF-8730-6F58AC921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  <a:endPara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4D6B27-4B77-3540-7E70-6D2B23EBB1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2658" y="2308742"/>
            <a:ext cx="8917858" cy="3276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on advanced FPGA platforms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Extension to larger multipliers (16×16, 32×32) and complex DSP blocks.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with full BIST architecture including response analyzer.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for further reduction of peak power consumption.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ASIC-level implementation and comparison with other low-power TPG techniques.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Exploration of adaptive or clock-gated LP-LFSR designs.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366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9ED7-1DBD-4315-D7FF-B5CB358B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64476"/>
          </a:xfrm>
        </p:spPr>
        <p:txBody>
          <a:bodyPr/>
          <a:lstStyle/>
          <a:p>
            <a:pPr algn="ctr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E113A-9991-910A-DD26-C96C9B7C2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10812"/>
            <a:ext cx="9905999" cy="431636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• A. Kavitha, G. Seetharaman, T. N. Prabakar, and S. Shrinithi,</a:t>
            </a:r>
            <a:br>
              <a:rPr lang="en-IN" dirty="0"/>
            </a:br>
            <a:r>
              <a:rPr lang="en-IN" dirty="0"/>
              <a:t>“Design of Low Power Test Pattern Generator Using LP-LFSR,”</a:t>
            </a:r>
            <a:br>
              <a:rPr lang="en-IN" dirty="0"/>
            </a:br>
            <a:r>
              <a:rPr lang="en-IN" i="1" dirty="0"/>
              <a:t>International Conference on Intelligent Systems Modelling and Simulation</a:t>
            </a:r>
            <a:r>
              <a:rPr lang="en-IN" dirty="0"/>
              <a:t>, IEEE, 2012.</a:t>
            </a:r>
          </a:p>
          <a:p>
            <a:r>
              <a:rPr lang="en-IN" dirty="0"/>
              <a:t>• P. Girard,</a:t>
            </a:r>
            <a:br>
              <a:rPr lang="en-IN" dirty="0"/>
            </a:br>
            <a:r>
              <a:rPr lang="en-IN" dirty="0"/>
              <a:t>“Survey of Low-Power Testing of VLSI Circuits,”</a:t>
            </a:r>
            <a:br>
              <a:rPr lang="en-IN" dirty="0"/>
            </a:br>
            <a:r>
              <a:rPr lang="en-IN" i="1" dirty="0"/>
              <a:t>IEEE Design &amp; Test of Computers</a:t>
            </a:r>
            <a:r>
              <a:rPr lang="en-IN" dirty="0"/>
              <a:t>, vol. 19, no. 3, pp. 80–90, 2002.</a:t>
            </a:r>
          </a:p>
          <a:p>
            <a:r>
              <a:rPr lang="en-IN" dirty="0"/>
              <a:t>• S. Wang and S. K. Gupta,</a:t>
            </a:r>
            <a:br>
              <a:rPr lang="en-IN" dirty="0"/>
            </a:br>
            <a:r>
              <a:rPr lang="en-IN" dirty="0"/>
              <a:t>“DS-LFSR: A BIST TPG for Low Switching Activity,”</a:t>
            </a:r>
            <a:br>
              <a:rPr lang="en-IN" dirty="0"/>
            </a:br>
            <a:r>
              <a:rPr lang="en-IN" i="1" dirty="0"/>
              <a:t>IEEE Transactions on Computer-Aided Design of Integrated Circuits and Systems</a:t>
            </a:r>
            <a:r>
              <a:rPr lang="en-IN" dirty="0"/>
              <a:t>, 2002.</a:t>
            </a:r>
          </a:p>
          <a:p>
            <a:r>
              <a:rPr lang="en-IN" dirty="0"/>
              <a:t>• Xilinx Inc.,</a:t>
            </a:r>
            <a:br>
              <a:rPr lang="en-IN" dirty="0"/>
            </a:br>
            <a:r>
              <a:rPr lang="en-IN" b="1" dirty="0" err="1"/>
              <a:t>Vivado</a:t>
            </a:r>
            <a:r>
              <a:rPr lang="en-IN" b="1" dirty="0"/>
              <a:t> Design Suite User Guide</a:t>
            </a:r>
            <a:r>
              <a:rPr lang="en-IN" dirty="0"/>
              <a:t>, 2025.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4272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881</TotalTime>
  <Words>1206</Words>
  <Application>Microsoft Office PowerPoint</Application>
  <PresentationFormat>Widescreen</PresentationFormat>
  <Paragraphs>178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Tw Cen MT</vt:lpstr>
      <vt:lpstr>Wingdings</vt:lpstr>
      <vt:lpstr>Circuit</vt:lpstr>
      <vt:lpstr> Design of Low Power TPG Using LP-LFSR</vt:lpstr>
      <vt:lpstr>contents</vt:lpstr>
      <vt:lpstr>introduction</vt:lpstr>
      <vt:lpstr>Problem statement</vt:lpstr>
      <vt:lpstr>objective</vt:lpstr>
      <vt:lpstr>Literature Review</vt:lpstr>
      <vt:lpstr>tpg –test pattern generator</vt:lpstr>
      <vt:lpstr>LFSR – linear feedback shift register</vt:lpstr>
      <vt:lpstr>Proposed Low Power TPG Architecture</vt:lpstr>
      <vt:lpstr>Block diagram</vt:lpstr>
      <vt:lpstr>Flow chart</vt:lpstr>
      <vt:lpstr>Modules details</vt:lpstr>
      <vt:lpstr>TOOLS AND TECHNOLOGIES USED</vt:lpstr>
      <vt:lpstr>RTL Design and Implementation</vt:lpstr>
      <vt:lpstr>Simulation results</vt:lpstr>
      <vt:lpstr>PowerPoint Presentation</vt:lpstr>
      <vt:lpstr>PowerPoint Presentation</vt:lpstr>
      <vt:lpstr>Advantages &amp; disadvantages</vt:lpstr>
      <vt:lpstr>applications</vt:lpstr>
      <vt:lpstr>conclusion</vt:lpstr>
      <vt:lpstr>Future scope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GONE KOUSHIK</dc:creator>
  <cp:lastModifiedBy>GONE KOUSHIK</cp:lastModifiedBy>
  <cp:revision>16</cp:revision>
  <dcterms:created xsi:type="dcterms:W3CDTF">2026-02-19T15:51:41Z</dcterms:created>
  <dcterms:modified xsi:type="dcterms:W3CDTF">2026-08-23T17:09:58Z</dcterms:modified>
</cp:coreProperties>
</file>